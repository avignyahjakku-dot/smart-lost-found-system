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576072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74320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CORE ALGORITHM</a:t>
            </a:r>
          </a:p>
          <a:p>
            <a:pPr>
              <a:defRPr sz="1600" b="1">
                <a:solidFill>
                  <a:srgbClr val="1E3A8A"/>
                </a:solidFill>
              </a:defRPr>
            </a:pPr>
            <a:r>
              <a:t>Binary Search Tree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✔  Time: O(log N) Avg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✔  Space: O(N) in RAM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✔  In-Order: Sorted O(N)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✔  Path: Fully Traced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✔  Deletion: 3-Case Clean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✔  Heuristic Similarity</a:t>
            </a:r>
          </a:p>
          <a:p>
            <a:br/>
            <a:pPr>
              <a:defRPr sz="1100" b="1">
                <a:solidFill>
                  <a:srgbClr val="0F172A"/>
                </a:solidFill>
              </a:defRPr>
            </a:pPr>
            <a:r>
              <a:t>✔  Deterministic Lookups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31920" y="457200"/>
            <a:ext cx="7528255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DATA STRUCTURES - LAB  |  CAPSTONE PROJECT</a:t>
            </a:r>
          </a:p>
          <a:p>
            <a:pPr>
              <a:defRPr sz="2500" b="1">
                <a:solidFill>
                  <a:srgbClr val="1E3A8A"/>
                </a:solidFill>
              </a:defRPr>
            </a:pPr>
            <a:r>
              <a:t>CampusFind: Smart Lost &amp; Found System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In-Memory Binary Search Tree Indexing &amp; Multi-Factor Heuristic Matching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Symbiosis Institute of Technology (SIT), Hyderabad</a:t>
            </a:r>
            <a:br/>
            <a:r>
              <a:t>Constituent of Symbiosis International (Deemed University), Pune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3749039"/>
            <a:ext cx="7528255" cy="246888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STUDENT &amp; PROJECT DETAILS</a:t>
            </a:r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Student Names: Avignyah Jakku  &amp;  Meghana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PRN Numbers: 25070721024 (Avignyah)  |  25070721002 (Meghana)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Course: Data Structures - Lab (B.Tech CSE, 2nd Year)  |  Dept of CSE, SIT-H</a:t>
            </a:r>
          </a:p>
          <a:p>
            <a:pPr>
              <a:defRPr sz="1050" b="1">
                <a:solidFill>
                  <a:srgbClr val="D97706"/>
                </a:solidFill>
              </a:defRPr>
            </a:pPr>
            <a:r>
              <a:t>Project Mentor: Dr. Rakesh Salakapuri  (Under Directorate of Dr. Rajinikanth Aluvalu)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DSA EXPERIENTIAL LEARNING | CAMPUSFIND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CampusFind: Smart Lost &amp; Found System  |  Data Structures &amp; Algorithms Lab  |  SIT Hyderabad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PROBLEM STATEMENT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On university campuses, personal belongings (student IDs, calculators, laptops, keys) are frequently misplaced. Current recovery relies on informal manual methods.</a:t>
            </a:r>
            <a:br/>
          </a:p>
          <a:p>
            <a:pPr>
              <a:defRPr sz="1150" b="1">
                <a:solidFill>
                  <a:srgbClr val="1E3A8A"/>
                </a:solidFill>
              </a:defRPr>
            </a:pPr>
            <a:r>
              <a:t>Key Challenges in Campus Recovery: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WhatsApp Spam: Messages buried under 500 chats within hours.</a:t>
            </a:r>
            <a:br/>
            <a:r>
              <a:t>• False Claim Hazards: Public listings openly expose identifying details, inviting dishonest claims.</a:t>
            </a:r>
            <a:br/>
            <a:r>
              <a:t>• Slow Paper Registers: Items sit forgotten in security guard drawers across 6 disconnected campus gates.</a:t>
            </a:r>
            <a:br/>
            <a:r>
              <a:t>• Zero Algorithmic Search: No indexing or automated pairing.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CORE PROJECT OBJECTIVES</a:t>
            </a:r>
          </a:p>
          <a:p>
            <a:br/>
            <a:pPr>
              <a:defRPr sz="1200" b="1">
                <a:solidFill>
                  <a:srgbClr val="1E3A8A"/>
                </a:solidFill>
              </a:defRPr>
            </a:pPr>
            <a:r>
              <a:t>🎯  CO3 : Algorithm Formulation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Implement an authentic in-memory Binary Search Tree from scratch in Python with logarithmic insertion, search path logging, and 3-case deletion.</a:t>
            </a:r>
          </a:p>
          <a:p>
            <a:br/>
            <a:pPr>
              <a:defRPr sz="1200" b="1">
                <a:solidFill>
                  <a:srgbClr val="1E3A8A"/>
                </a:solidFill>
              </a:defRPr>
            </a:pPr>
            <a:r>
              <a:t>🎯  CO4 : Performance &amp; Complexity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Mathematically analyze and empirically demonstrate O(log N) lookup and O(N) in-order traversal versus O(N) linear scanning.</a:t>
            </a:r>
          </a:p>
          <a:p>
            <a:br/>
            <a:pPr>
              <a:defRPr sz="1200" b="1">
                <a:solidFill>
                  <a:srgbClr val="1E3A8A"/>
                </a:solidFill>
              </a:defRPr>
            </a:pPr>
            <a:r>
              <a:t>🎯  CO5 : Practical Full-Stack Demonstration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Build a complete web application with Flask, multi-factor heuristic matching, anti-fraud secret questions, and an interactive SVG tree visualizer.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DSA EXPERIENTIAL LEARNING | CAMPUSFIND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Algorithm Selection: Why In-Memory BST is the Best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CampusFind: Smart Lost &amp; Found System  |  Data Structures &amp; Algorithms Lab  |  SIT Hyderabad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475488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1. SUB-MILLISECOND LOOKUP GUARANTEE</a:t>
            </a:r>
          </a:p>
          <a:p>
            <a:pPr>
              <a:defRPr sz="1100" b="1">
                <a:solidFill>
                  <a:srgbClr val="1E3A8A"/>
                </a:solidFill>
              </a:defRPr>
            </a:pPr>
            <a:r>
              <a:t>Logarithmic O(log N) Scaling in RAM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Binary branching splits search space in half at every comparison step: T(N) = T(N/2) + O(1).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Eliminates disk I/O latency by operating directly in system RAM.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Sub-millisecond retrieval across hundreds of active campus inventory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134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2. PEDAGOGICAL WHITE-BOX PATH TRACING</a:t>
            </a:r>
          </a:p>
          <a:p>
            <a:pPr>
              <a:defRPr sz="1100" b="1">
                <a:solidFill>
                  <a:srgbClr val="1E3A8A"/>
                </a:solidFill>
              </a:defRPr>
            </a:pPr>
            <a:r>
              <a:t>Real-Time Algorithmic Visibility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Unlike database B-Trees that act as opaque black boxes, our BST logs exact traversal trajectories.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Visual path array [Root ➔ Right ➔ Left ➔ Target] exposed directly to interactive SVG canvas.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Provides clear white-box academic demonstration during viva examinations.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3. ORDERED TRAVERSAL &amp; 3-CASE DELETION</a:t>
            </a:r>
          </a:p>
          <a:p>
            <a:pPr>
              <a:defRPr sz="1100" b="1">
                <a:solidFill>
                  <a:srgbClr val="1E3A8A"/>
                </a:solidFill>
              </a:defRPr>
            </a:pPr>
            <a:r>
              <a:t>Deterministic Inventory Management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In-Order Traversal (Left, Root, Right) generates monotonically sorted item IDs in O(N) linear time.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Handles item recovery through authentic 3-case deletion (leaf, 1-child bypass, 2-child successor).</a:t>
            </a:r>
          </a:p>
          <a:p>
            <a:br/>
            <a:pPr>
              <a:defRPr sz="1000">
                <a:solidFill>
                  <a:srgbClr val="0F172A"/>
                </a:solidFill>
              </a:defRPr>
            </a:pPr>
            <a:r>
              <a:t>• Memory footprint in RAM is negligible (&lt;2 MB for 10,000 items).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DSA EXPERIENTIAL LEARNING | CAMPUSFIND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System Architecture &amp;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CampusFind: Smart Lost &amp; Found System  |  Data Structures &amp; Algorithms Lab  |  SIT Hyderabad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MODULAR SYSTEM ARCHITECTURE</a:t>
            </a:r>
          </a:p>
          <a:p>
            <a:br/>
            <a:pPr>
              <a:defRPr sz="1150" b="1">
                <a:solidFill>
                  <a:srgbClr val="1E3A8A"/>
                </a:solidFill>
              </a:defRPr>
            </a:pPr>
            <a:r>
              <a:t>⚡ Core DSA Engine (app/dsa/bst.py)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Pure Python Binary Search Tree with BSTNode class, logarithmic insertion, search path tracking, and in-order traversals.</a:t>
            </a:r>
          </a:p>
          <a:p>
            <a:br/>
            <a:pPr>
              <a:defRPr sz="1150" b="1">
                <a:solidFill>
                  <a:srgbClr val="1E3A8A"/>
                </a:solidFill>
              </a:defRPr>
            </a:pPr>
            <a:r>
              <a:t>⚡ Multi-Criteria Matching (app/matching.py)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Heuristic engine calculating weighted similarity: Category (30%), Keyword Overlap (35%), Landmark (20%), and Date (15%).</a:t>
            </a:r>
          </a:p>
          <a:p>
            <a:br/>
            <a:pPr>
              <a:defRPr sz="1150" b="1">
                <a:solidFill>
                  <a:srgbClr val="1E3A8A"/>
                </a:solidFill>
              </a:defRPr>
            </a:pPr>
            <a:r>
              <a:t>⚡ Anti-Fraud Security Gate (app/claims.py)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Private verification hint questions set by owner; claimant must answer correctly before admin authorizes custody release.</a:t>
            </a:r>
          </a:p>
          <a:p>
            <a:br/>
            <a:pPr>
              <a:defRPr sz="1150" b="1">
                <a:solidFill>
                  <a:srgbClr val="1E3A8A"/>
                </a:solidFill>
              </a:defRPr>
            </a:pPr>
            <a:r>
              <a:t>⚡ Dual Persistence Engine (app/db.py)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Production MySQL 8.0 support with automatic zero-config SQLite fallback ensuring 100% offline reliability.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END-TO-END RECOVERY WORKFLOW</a:t>
            </a:r>
          </a:p>
          <a:p>
            <a:br/>
            <a:pPr>
              <a:defRPr sz="1150" b="1">
                <a:solidFill>
                  <a:srgbClr val="1E3A8A"/>
                </a:solidFill>
              </a:defRPr>
            </a:pPr>
            <a:r>
              <a:t>1️⃣ Item Registration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User reports lost/found item with photo, location, and secret challenge question.</a:t>
            </a:r>
          </a:p>
          <a:p>
            <a:br/>
            <a:pPr>
              <a:defRPr sz="1150" b="1">
                <a:solidFill>
                  <a:srgbClr val="1E3A8A"/>
                </a:solidFill>
              </a:defRPr>
            </a:pPr>
            <a:r>
              <a:t>2️⃣ In-Memory BST Indexing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Item record is saved to DB and numerical ID is inserted into RAM BST in O(log N).</a:t>
            </a:r>
          </a:p>
          <a:p>
            <a:br/>
            <a:pPr>
              <a:defRPr sz="1150" b="1">
                <a:solidFill>
                  <a:srgbClr val="1E3A8A"/>
                </a:solidFill>
              </a:defRPr>
            </a:pPr>
            <a:r>
              <a:t>3️⃣ Heuristic Correlation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Engine evaluates candidate pairings. Scores &gt;= 75% trigger High-Confidence match alerts.</a:t>
            </a:r>
          </a:p>
          <a:p>
            <a:br/>
            <a:pPr>
              <a:defRPr sz="1150" b="1">
                <a:solidFill>
                  <a:srgbClr val="1E3A8A"/>
                </a:solidFill>
              </a:defRPr>
            </a:pPr>
            <a:r>
              <a:t>4️⃣ Claimant Verification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Claimant answers secret owner question; Admin compares answer and approves handover.</a:t>
            </a:r>
          </a:p>
          <a:p>
            <a:br/>
            <a:pPr>
              <a:defRPr sz="1150" b="1">
                <a:solidFill>
                  <a:srgbClr val="1E3A8A"/>
                </a:solidFill>
              </a:defRPr>
            </a:pPr>
            <a:r>
              <a:t>5️⃣ Node Deletion &amp; Resolution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Claimed item transitions to 'Resolved' and node is pruned from BST.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DSA EXPERIENTIAL LEARNING | CAMPUSFIND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Algorithm Performance Comparison (In-Memory BST vs Others)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CampusFind: Smart Lost &amp; Found System  |  Data Structures &amp; Algorithms Lab  |  SIT Hyderabad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11680"/>
                <a:gridCol w="2011680"/>
                <a:gridCol w="2011680"/>
                <a:gridCol w="2224735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Algorithm / Structure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Search Time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Insert Time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Ordered Traversal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Path Traceability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D97706"/>
                          </a:solidFill>
                        </a:defRPr>
                      </a:pPr>
                      <a:r>
                        <a:t>In-Memory BST [BEST CHOICE]</a:t>
                      </a:r>
                    </a:p>
                  </a:txBody>
                  <a:tcPr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O(log N) Avg</a:t>
                      </a:r>
                    </a:p>
                  </a:txBody>
                  <a:tcPr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O(log N) Avg</a:t>
                      </a:r>
                    </a:p>
                  </a:txBody>
                  <a:tcPr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O(N) In-Order</a:t>
                      </a:r>
                    </a:p>
                  </a:txBody>
                  <a:tcPr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100% Transparent</a:t>
                      </a:r>
                    </a:p>
                  </a:txBody>
                  <a:tcPr>
                    <a:solidFill>
                      <a:srgbClr val="FEF9C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Linear Array / List</a:t>
                      </a:r>
                    </a:p>
                  </a:txBody>
                  <a:tcPr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O(N) Scan</a:t>
                      </a:r>
                    </a:p>
                  </a:txBody>
                  <a:tcPr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O(1) Append</a:t>
                      </a:r>
                    </a:p>
                  </a:txBody>
                  <a:tcPr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O(N log N) Sort</a:t>
                      </a:r>
                    </a:p>
                  </a:txBody>
                  <a:tcPr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None (Opaque)</a:t>
                      </a:r>
                    </a:p>
                  </a:txBody>
                  <a:tcPr>
                    <a:solidFill>
                      <a:srgbClr val="FEF0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Hash Table (Dict)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O(1) 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O(1) 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O(N log N) 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None (No Order)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Database B-Tree Index</a:t>
                      </a:r>
                    </a:p>
                  </a:txBody>
                  <a:tcPr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O(log_B N) Disk I/O</a:t>
                      </a:r>
                    </a:p>
                  </a:txBody>
                  <a:tcPr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O(log_B N) Disk</a:t>
                      </a:r>
                    </a:p>
                  </a:txBody>
                  <a:tcPr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O(N) Index Scan</a:t>
                      </a:r>
                    </a:p>
                  </a:txBody>
                  <a:tcPr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Opaque Engine Internal</a:t>
                      </a:r>
                    </a:p>
                  </a:txBody>
                  <a:tcPr>
                    <a:solidFill>
                      <a:srgbClr val="FEF0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AVL / Red-Black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O(log N) 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O(log N) + Rotate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O(N) In-Order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Complex Rotations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937760"/>
            <a:ext cx="10728655" cy="128016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Key Takeaway: Dual-Engine Synergy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Relational databases provide permanent ACID disk persistence, but treat indexing as an opaque black box. In CampusFind, the in-memory BST operates in RAM to give instant O(log N) search and exposes the complete step-by-step traversal path [Root ➔ Right ➔ Left ➔ Target] to the live visualizer.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DSA EXPERIENTIAL LEARNING | CAMPUSFIND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Key Technical Findings &amp; Viva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2286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CampusFind: Smart Lost &amp; Found System  |  Data Structures &amp; Algorithms Lab  |  SIT Hyderabad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42255" cy="224028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💡  O(log N) SEARCH SPEED VALIDATION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Empirical search latency measured under 0.05 ms in Python RAM.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Average comparisons reduced from N = 1,000 to ~10 tree branch checks.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Visual path logging incurs negligible space overhead (O(h) array).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💡  EXPLAINABLE HEURISTIC MATCHING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Multi-factor scoring formula: Category (30%) + Keywords (35%) + Location (20%) + Date (15%).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Jaccard tokenization reliably detects matching titles ('dell', 'laptop').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Temporal delta penalizes chronologically impossible claims (found before lost).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242255" cy="224028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💡  ANTI-FRAUD VERIFICATION GATE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Owner sets private challenge question during item creation.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Answers stored securely in database, never shown publicly.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Guarantees that discovered property is returned only to genuine owners.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86200"/>
            <a:ext cx="524225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💡  COURSE OUTCOMES ACHIEVED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CO3: Built authentic Binary Search Tree with 3-case deletion from scratch.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CO4: Derived and verified O(log N) search and O(N) traversal complexities.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CO5: Delivered complete web application with 51/51 automated tests passing.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0" y="914400"/>
            <a:ext cx="8899855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/>
          <a:lstStyle/>
          <a:p>
            <a:pPr algn="ctr">
              <a:defRPr sz="4000" b="1">
                <a:solidFill>
                  <a:srgbClr val="1E3A8A"/>
                </a:solidFill>
              </a:defRPr>
            </a:pPr>
            <a:r>
              <a:t>Thank You!</a:t>
            </a:r>
          </a:p>
          <a:p>
            <a:pPr algn="ctr">
              <a:defRPr sz="2000" b="1">
                <a:solidFill>
                  <a:srgbClr val="D97706"/>
                </a:solidFill>
              </a:defRPr>
            </a:pPr>
            <a:r>
              <a:t>Questions &amp; Discussion</a:t>
            </a:r>
          </a:p>
          <a:p>
            <a:pPr algn="ctr">
              <a:defRPr sz="1200">
                <a:solidFill>
                  <a:srgbClr val="F59E0B"/>
                </a:solidFill>
              </a:defRPr>
            </a:pPr>
            <a:r>
              <a:t>━━━━━━━━━━━━━━━━━━━━━━━━━━━━━━━━━━━━━━━━━━━━━━━━</a:t>
            </a:r>
          </a:p>
          <a:p>
            <a:br/>
            <a:pPr algn="ctr">
              <a:defRPr sz="1400" b="1">
                <a:solidFill>
                  <a:srgbClr val="0F172A"/>
                </a:solidFill>
              </a:defRPr>
            </a:pPr>
            <a:r>
              <a:t>Avignyah Jakku  (PRN: 25070721024)</a:t>
            </a:r>
            <a:br/>
            <a:r>
              <a:t>Meghana  (PRN: 25070721002)</a:t>
            </a:r>
          </a:p>
          <a:p>
            <a:br/>
            <a:pPr algn="ctr">
              <a:defRPr sz="1200">
                <a:solidFill>
                  <a:srgbClr val="475569"/>
                </a:solidFill>
              </a:defRPr>
            </a:pPr>
            <a:r>
              <a:t>B.Tech Computer Science and Engineering  |  2nd Year</a:t>
            </a:r>
          </a:p>
          <a:p>
            <a:pPr algn="ctr">
              <a:defRPr sz="1200" b="1">
                <a:solidFill>
                  <a:srgbClr val="1E3A8A"/>
                </a:solidFill>
              </a:defRPr>
            </a:pPr>
            <a:r>
              <a:t>Symbiosis Institute of Technology (SIT), Hyderabad</a:t>
            </a:r>
          </a:p>
          <a:p>
            <a:br/>
            <a:pPr algn="ctr">
              <a:defRPr sz="1100" b="1">
                <a:solidFill>
                  <a:srgbClr val="D97706"/>
                </a:solidFill>
              </a:defRPr>
            </a:pPr>
            <a:r>
              <a:t>GitHub Repository: https://github.com/avignyahjakku-dot/Smart-Lost-Found-System.git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