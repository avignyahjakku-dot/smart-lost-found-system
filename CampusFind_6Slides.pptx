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31D23"/>
                </a:solidFill>
              </a:defRPr>
            </a:pPr>
            <a:r>
              <a:t>SYMBIOSIS INSTITUTE OF TECHNOLOGY, HYDERABAD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Constituent of Symbiosis International (Deemed University), Pune  •  NAAC 'A++' Accredited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0728655" cy="201168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100" b="1">
                <a:solidFill>
                  <a:srgbClr val="FECACA"/>
                </a:solidFill>
              </a:defRPr>
            </a:pPr>
            <a:r>
              <a:t>PROJECT PROPOSAL &amp; LAB DEFENSE</a:t>
            </a:r>
          </a:p>
          <a:p>
            <a:pPr>
              <a:defRPr sz="2600" b="1">
                <a:solidFill>
                  <a:srgbClr val="FFFFFF"/>
                </a:solidFill>
              </a:defRPr>
            </a:pPr>
            <a:r>
              <a:t>CampusFind: Smart University Lost &amp; Found System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In-Memory Binary Search Tree (BST) Indexing &amp; Multi-Factor Heuristic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5486400" cy="2194560"/>
          </a:xfrm>
          <a:prstGeom prst="roundRect">
            <a:avLst/>
          </a:prstGeom>
          <a:solidFill>
            <a:srgbClr val="EEF2F6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A31D23"/>
                </a:solidFill>
              </a:defRPr>
            </a:pPr>
            <a:r>
              <a:t>SUBMITTED BY: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Avignyah Jakku   |  PRN: 25070721024  (BTech CSE)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Meghana                 |  PRN: 25070721002  (BTech CSE)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3840480"/>
            <a:ext cx="4967935" cy="2194560"/>
          </a:xfrm>
          <a:prstGeom prst="roundRect">
            <a:avLst/>
          </a:prstGeom>
          <a:solidFill>
            <a:srgbClr val="EEF2F6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14233C"/>
                </a:solidFill>
              </a:defRPr>
            </a:pPr>
            <a:r>
              <a:t>PROJECT GUIDANCE:</a:t>
            </a:r>
          </a:p>
          <a:p>
            <a:pPr>
              <a:defRPr sz="1300" b="1">
                <a:solidFill>
                  <a:srgbClr val="A31D23"/>
                </a:solidFill>
              </a:defRPr>
            </a:pPr>
            <a:r>
              <a:t>Dr. Rakesh Salakapuri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Professor &amp; Project Guide, Dept. of CSE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Under the Directorate of Dr. Rajinikanth Aluvalu, Director, SIT-H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1D23"/>
                </a:solidFill>
              </a:defRPr>
            </a:pPr>
            <a:r>
              <a:t>2.  CONTEXT &amp;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DAE2E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  |  Slide 2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42255" cy="4389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A3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A31D23"/>
                </a:solidFill>
              </a:defRPr>
            </a:pPr>
            <a:r>
              <a:t>The Current Campus Challenge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Scattered Information: Reports spread across noisy WhatsApp chats and paper registers.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Vulnerability to Theft: Publicly posted item photos and details invite dishonest claims.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Manual &amp; Slow: Students and guards spend days manually searching custody desks.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Zero Algorithmic Search: No indexing or automatic correlation between lost and found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The CampusFind Solution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Centralized Digital Repository: One unified portal for all students, staff, and security desks.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Anti-Fraud Challenge Verification: Secret hint questions ensure only true owners can claim items.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In-Memory BST Indexing: Sub-millisecond item lookups with visual step-by-step path tracing.</a:t>
            </a:r>
          </a:p>
          <a:p>
            <a:br/>
            <a:pPr>
              <a:defRPr sz="1150">
                <a:solidFill>
                  <a:srgbClr val="1E293B"/>
                </a:solidFill>
              </a:defRPr>
            </a:pPr>
            <a:r>
              <a:t>• Automated Heuristic Matching: Correlates reports using category, keyword, location, and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1D23"/>
                </a:solidFill>
              </a:defRPr>
            </a:pPr>
            <a:r>
              <a:t>3. 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System Architecture &amp; End-to-End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DAE2E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  |  Slide 3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960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Step 1: Report Item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Log lost/found item with title, campus zone, photo, and a secret ownership hint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728655" cy="960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A3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A31D23"/>
                </a:solidFill>
              </a:defRPr>
            </a:pPr>
            <a:r>
              <a:t>Step 2: BST Indexing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Item record is saved to DB and its numerical ID is indexed into an in-memory BST in O(log 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10728655" cy="960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Step 3: Auto-Matching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Multi-factor algorithm evaluates similarity. Scores &gt;= 75% trigger high-confidence matches.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10728655" cy="960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A3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300" b="1">
                <a:solidFill>
                  <a:srgbClr val="A31D23"/>
                </a:solidFill>
              </a:defRPr>
            </a:pPr>
            <a:r>
              <a:t>Step 4: Claim &amp; Verify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Claimant answers secret hint question; Administrator verifies and approves physical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1D23"/>
                </a:solidFill>
              </a:defRPr>
            </a:pPr>
            <a:r>
              <a:t>4.  DATA STRUCTURES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Applied DSA: In-Memory Binary Search Tree (BST)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DAE2E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  |  Slide 4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EEF2F6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400" b="1">
                <a:solidFill>
                  <a:srgbClr val="14233C"/>
                </a:solidFill>
              </a:defRPr>
            </a:pPr>
            <a:r>
              <a:t>Why an In-Memory BST?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Enforces BST Invariant: LeftSubtree(N) &lt; Key(N) &lt; RightSubtree(N) across all items.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Sub-Millisecond Speed: Operates directly in RAM, avoiding disk I/O bottlenecks.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Explainable Search Path: Logs exact traversal route [Root -&gt; ... -&gt; Target] directly to UI.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In-Order Traversal: Left-Root-Right produces sorted inventory array in linear O(n) time.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• 3-Case Deletion: Cleans resolved items (leaf, 1-child bypass, 2-children successor replacement).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645920"/>
          <a:ext cx="52422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676095"/>
              </a:tblGrid>
              <a:tr h="87782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BST Operation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Average Time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Worst Case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Key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O(log₂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Key Insertion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O(log₂ n)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Three-Case Deletion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O(log₂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In-Order Traversal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1D23"/>
                </a:solidFill>
              </a:defRPr>
            </a:pPr>
            <a:r>
              <a:t>5.  ALGORITHMIC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Multi-Factor Matching Engine &amp; Anti-Fraud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DAE2E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  |  Slide 5 of 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728655" cy="731520"/>
          </a:xfrm>
          <a:prstGeom prst="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>
              <a:defRPr sz="1200" b="1">
                <a:solidFill>
                  <a:srgbClr val="FECACA"/>
                </a:solidFill>
              </a:defRPr>
            </a:pPr>
            <a:r>
              <a:t>MATCHING SCORE = 30% Category + 35% Keyword Overlap + 20% Location + 15% Date Plausibility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5242255" cy="16002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Category Match (30%)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30.0 pts for exact taxonomic match; 0.0 pts for mismatch (Electronics vs Bottle).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68880"/>
            <a:ext cx="5242255" cy="16002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A3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A31D23"/>
                </a:solidFill>
              </a:defRPr>
            </a:pPr>
            <a:r>
              <a:t>Text Overlap (35%)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Jaccard similarity on non-stopword tokens ('dell', 'laptop') boosted by title intersection.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242255" cy="16002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Campus Location (20%)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20.0 pts for exact campus landmark match; 15.0 pts for shared campus zone.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242255" cy="160020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A31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300" b="1">
                <a:solidFill>
                  <a:srgbClr val="A31D23"/>
                </a:solidFill>
              </a:defRPr>
            </a:pPr>
            <a:r>
              <a:t>Date Plausibility (15%)</a:t>
            </a:r>
          </a:p>
          <a:p>
            <a:br/>
            <a:pPr>
              <a:defRPr sz="1100">
                <a:solidFill>
                  <a:srgbClr val="1E293B"/>
                </a:solidFill>
              </a:defRPr>
            </a:pPr>
            <a:r>
              <a:t>15.0 pts if found within same day; penalizes chronologically impossible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1D23"/>
                </a:solidFill>
              </a:defRPr>
            </a:pPr>
            <a:r>
              <a:t>6.  TECHNICAL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Live System Demonstration &amp; 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27432"/>
          </a:xfrm>
          <a:prstGeom prst="rect">
            <a:avLst/>
          </a:prstGeom>
          <a:solidFill>
            <a:srgbClr val="DAE2ED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CampusFind  |  Avignyah Jakku (25070721024) &amp; Meghana (25070721002)  |  SIT Hyderabad  |  Slide 6 of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28655" cy="30175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defRPr sz="1300" b="1">
                <a:solidFill>
                  <a:srgbClr val="14233C"/>
                </a:solidFill>
              </a:defRPr>
            </a:pPr>
            <a:r>
              <a:t>CORE FEATURES TO OBSERVE IN THE LIVE DEMO: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1. Dynamic BST Visualizer (/dsa/visualizer): Real-time SVG tree rendering with green laser search path animation.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2. Heuristic Matching Hub (/matches): Automated item pairing with percentage scores and transparent factor breakdowns.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3. Anti-Fraud Reporting (/report): Confidential owner challenge questions that prevent false claims.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4. Administrative Portal (/admin): Approving authentic claims, rejecting fakes, and viewing immutable audit trails.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5. Engineering Quality: Dual MySQL/SQLite persistence verified across 51/51 automated unit and integration tests.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10728655" cy="1371600"/>
          </a:xfrm>
          <a:prstGeom prst="rect">
            <a:avLst/>
          </a:prstGeom>
          <a:solidFill>
            <a:srgbClr val="1423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READY FOR LIVE SYSTEM DEMONSTRATION &amp; Q&amp;A</a:t>
            </a:r>
          </a:p>
          <a:p>
            <a:pPr algn="ctr">
              <a:defRPr sz="1200" b="1">
                <a:solidFill>
                  <a:srgbClr val="FECACA"/>
                </a:solidFill>
              </a:defRPr>
            </a:pPr>
            <a:r>
              <a:t>Avignyah Jakku (25070721024)   &amp;   Meghana (25070721002)</a:t>
            </a:r>
          </a:p>
          <a:p>
            <a:pPr algn="ctr">
              <a:defRPr sz="1000">
                <a:solidFill>
                  <a:srgbClr val="CBD5E1"/>
                </a:solidFill>
              </a:defRPr>
            </a:pPr>
            <a:r>
              <a:t>Department of Computer Science &amp; Engineering  |  SIT Hyderabad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